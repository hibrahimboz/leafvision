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/>
              <a:t>Asıl başlık stili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4CB04FE4-B3F0-4C56-AF6E-AE1420C988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Bitkilerin Yapraklarının Sınırlarının Belirlenmesi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5B01B0D-96BB-4526-9FBD-2E90633212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Halil </a:t>
            </a:r>
            <a:r>
              <a:rPr lang="tr-TR" dirty="0" err="1"/>
              <a:t>ibrahim</a:t>
            </a:r>
            <a:r>
              <a:rPr lang="tr-TR" dirty="0"/>
              <a:t> </a:t>
            </a:r>
            <a:r>
              <a:rPr lang="tr-TR" dirty="0" err="1"/>
              <a:t>bozoğlu</a:t>
            </a:r>
            <a:endParaRPr lang="tr-TR" dirty="0"/>
          </a:p>
          <a:p>
            <a:r>
              <a:rPr lang="tr-TR" dirty="0" err="1"/>
              <a:t>DaNIŞMAN</a:t>
            </a:r>
            <a:r>
              <a:rPr lang="tr-TR" dirty="0"/>
              <a:t>		: YRD. DOÇ. BÜLENT BOLAT</a:t>
            </a:r>
          </a:p>
        </p:txBody>
      </p:sp>
    </p:spTree>
    <p:extLst>
      <p:ext uri="{BB962C8B-B14F-4D97-AF65-F5344CB8AC3E}">
        <p14:creationId xmlns:p14="http://schemas.microsoft.com/office/powerpoint/2010/main" val="135824618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13661BB-653F-424D-9AEB-B249144C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Görüntü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4100E1-8332-4638-9F26-572678178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Görüntü; kısaca pikseller matrisi olarak ifade edilebilir: I(</a:t>
            </a:r>
            <a:r>
              <a:rPr lang="tr-TR" sz="2800" dirty="0" err="1"/>
              <a:t>x,y</a:t>
            </a:r>
            <a:r>
              <a:rPr lang="tr-TR" sz="2800" dirty="0"/>
              <a:t>). </a:t>
            </a:r>
            <a:r>
              <a:rPr lang="tr-TR" sz="2800" dirty="0" err="1"/>
              <a:t>Matlab</a:t>
            </a:r>
            <a:r>
              <a:rPr lang="tr-TR" sz="2800" dirty="0"/>
              <a:t>, I(</a:t>
            </a:r>
            <a:r>
              <a:rPr lang="tr-TR" sz="2800" dirty="0" err="1"/>
              <a:t>r,c</a:t>
            </a:r>
            <a:r>
              <a:rPr lang="tr-TR" sz="2800" dirty="0"/>
              <a:t>) gösterimini kullanır. </a:t>
            </a:r>
          </a:p>
          <a:p>
            <a:r>
              <a:rPr lang="tr-TR" sz="2800" dirty="0"/>
              <a:t>Genellikle iki boyutlu bir sahneyi temsil eden veri olarak düşünülebilir. </a:t>
            </a:r>
          </a:p>
          <a:p>
            <a:r>
              <a:rPr lang="tr-TR" sz="2800" dirty="0"/>
              <a:t>Dikdörtgen şeklindeki bir alan içerisinde yüksekliği ve genişliği olan bir resim anlamında kullanılır</a:t>
            </a:r>
            <a:r>
              <a:rPr lang="tr-TR" sz="2800" b="1" dirty="0"/>
              <a:t>. </a:t>
            </a:r>
          </a:p>
          <a:p>
            <a:r>
              <a:rPr lang="tr-TR" sz="2800" dirty="0"/>
              <a:t>İkili, gri seviye ve renkli olmak üzere üç türü vardır.</a:t>
            </a:r>
          </a:p>
        </p:txBody>
      </p:sp>
    </p:spTree>
    <p:extLst>
      <p:ext uri="{BB962C8B-B14F-4D97-AF65-F5344CB8AC3E}">
        <p14:creationId xmlns:p14="http://schemas.microsoft.com/office/powerpoint/2010/main" val="4289421990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D33E307E-3CE0-4216-ADD2-3EBF46E3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Görüntü İşleme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A42EB7C-0722-4579-8C95-A8CE9A7AC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400" dirty="0"/>
              <a:t>Görüntü işleme; iki boyutlu bir görüntünün bilgisayar yardımı ile işlenmesidir. </a:t>
            </a:r>
          </a:p>
          <a:p>
            <a:r>
              <a:rPr lang="tr-TR" sz="2400" dirty="0"/>
              <a:t>Çıktı genelde yeni bir görüntüdür. </a:t>
            </a:r>
          </a:p>
          <a:p>
            <a:r>
              <a:rPr lang="tr-TR" sz="2400" dirty="0"/>
              <a:t>Görüntü kalitesi artırılır veya istenen şekle getirilir. </a:t>
            </a:r>
          </a:p>
          <a:p>
            <a:r>
              <a:rPr lang="tr-TR" sz="2400" dirty="0"/>
              <a:t>Kullanılan bazı görüntü işleme yöntemleri;</a:t>
            </a:r>
          </a:p>
          <a:p>
            <a:pPr lvl="2"/>
            <a:r>
              <a:rPr lang="tr-TR" sz="2400" dirty="0"/>
              <a:t> </a:t>
            </a:r>
            <a:r>
              <a:rPr lang="tr-TR" sz="2400" dirty="0" err="1"/>
              <a:t>Bölütleme</a:t>
            </a:r>
            <a:r>
              <a:rPr lang="tr-TR" sz="2400" dirty="0"/>
              <a:t> (</a:t>
            </a:r>
            <a:r>
              <a:rPr lang="tr-TR" sz="2400" dirty="0" err="1"/>
              <a:t>Segmentation</a:t>
            </a:r>
            <a:r>
              <a:rPr lang="tr-TR" sz="2400" dirty="0"/>
              <a:t>)</a:t>
            </a:r>
          </a:p>
          <a:p>
            <a:pPr lvl="3"/>
            <a:r>
              <a:rPr lang="tr-TR" sz="2200" dirty="0"/>
              <a:t> Eşikleme ( </a:t>
            </a:r>
            <a:r>
              <a:rPr lang="tr-TR" sz="2200" dirty="0" err="1"/>
              <a:t>Tresholding</a:t>
            </a:r>
            <a:r>
              <a:rPr lang="tr-TR" sz="2200" dirty="0"/>
              <a:t>)</a:t>
            </a:r>
          </a:p>
          <a:p>
            <a:pPr lvl="3"/>
            <a:r>
              <a:rPr lang="tr-TR" sz="2200" dirty="0"/>
              <a:t> Kenar Belirleme (</a:t>
            </a:r>
            <a:r>
              <a:rPr lang="tr-TR" sz="2200" dirty="0" err="1"/>
              <a:t>Edge</a:t>
            </a:r>
            <a:r>
              <a:rPr lang="tr-TR" sz="2200" dirty="0"/>
              <a:t> </a:t>
            </a:r>
            <a:r>
              <a:rPr lang="tr-TR" sz="2200" dirty="0" err="1"/>
              <a:t>Detection</a:t>
            </a:r>
            <a:r>
              <a:rPr lang="tr-TR" sz="2200" dirty="0"/>
              <a:t>)</a:t>
            </a:r>
          </a:p>
          <a:p>
            <a:pPr lvl="2"/>
            <a:r>
              <a:rPr lang="tr-TR" sz="2400" dirty="0"/>
              <a:t> Morfolojik İşlemler (</a:t>
            </a:r>
            <a:r>
              <a:rPr lang="tr-TR" sz="2400" dirty="0" err="1"/>
              <a:t>Morphological</a:t>
            </a:r>
            <a:r>
              <a:rPr lang="tr-TR" sz="2400" dirty="0"/>
              <a:t> Operations)</a:t>
            </a:r>
          </a:p>
          <a:p>
            <a:pPr lvl="2"/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1398962631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AA085689-791F-4B8F-9F30-12415B97D3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AA3FED7F-6821-47C0-A464-E9278B2412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8F54B2FB-3F54-4350-8D1B-F86D677CA7E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561B34F5-88E5-4711-BC16-3005C29AD7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4F3661D0-2268-4D3E-88BA-0647BCBE33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DDB56DB5-0324-4F79-9AB8-CB18C1DC87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91122951-4BC2-4B80-BAB7-751A9A4F2E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7"/>
          <a:srcRect l="11401" t="7286" r="6461" b="14219"/>
          <a:stretch/>
        </p:blipFill>
        <p:spPr>
          <a:xfrm>
            <a:off x="5088835" y="1272207"/>
            <a:ext cx="6175513" cy="442622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8B552A8E-DEF9-4254-BD69-E4D91C6A153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Unvan 1">
            <a:extLst>
              <a:ext uri="{FF2B5EF4-FFF2-40B4-BE49-F238E27FC236}">
                <a16:creationId xmlns:a16="http://schemas.microsoft.com/office/drawing/2014/main" id="{6E3D3623-77D8-44A3-86D7-B5721624A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322912" cy="1641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/>
              <a:t>Bölütleme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051510-061C-4430-AB67-DEEA405B8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7701" y="2438401"/>
            <a:ext cx="3324141" cy="380999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 err="1"/>
              <a:t>Görüntüleri</a:t>
            </a:r>
            <a:r>
              <a:rPr lang="en-US" sz="2400" dirty="0"/>
              <a:t> </a:t>
            </a:r>
            <a:r>
              <a:rPr lang="en-US" sz="2400" dirty="0" err="1"/>
              <a:t>kendini</a:t>
            </a:r>
            <a:r>
              <a:rPr lang="en-US" sz="2400" dirty="0"/>
              <a:t> </a:t>
            </a:r>
            <a:r>
              <a:rPr lang="en-US" sz="2400" dirty="0" err="1"/>
              <a:t>oluşturan</a:t>
            </a:r>
            <a:r>
              <a:rPr lang="en-US" sz="2400" dirty="0"/>
              <a:t> </a:t>
            </a:r>
            <a:r>
              <a:rPr lang="en-US" sz="2400" dirty="0" err="1"/>
              <a:t>parçalara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nesnelere</a:t>
            </a:r>
            <a:r>
              <a:rPr lang="en-US" sz="2400" dirty="0"/>
              <a:t> </a:t>
            </a:r>
            <a:r>
              <a:rPr lang="tr-TR" sz="2400" dirty="0"/>
              <a:t>ayrıştırma</a:t>
            </a:r>
            <a:r>
              <a:rPr lang="en-US" sz="2400" dirty="0"/>
              <a:t> </a:t>
            </a:r>
            <a:r>
              <a:rPr lang="en-US" sz="2400" dirty="0" err="1"/>
              <a:t>işlemidir</a:t>
            </a:r>
            <a:r>
              <a:rPr lang="en-US" sz="2400" dirty="0"/>
              <a:t>. </a:t>
            </a:r>
          </a:p>
          <a:p>
            <a:r>
              <a:rPr lang="tr-TR" sz="2400" dirty="0"/>
              <a:t>Nesneleri</a:t>
            </a:r>
            <a:r>
              <a:rPr lang="en-US" sz="2400" dirty="0"/>
              <a:t> </a:t>
            </a:r>
            <a:r>
              <a:rPr lang="en-US" sz="2400" dirty="0" err="1"/>
              <a:t>arka</a:t>
            </a:r>
            <a:r>
              <a:rPr lang="en-US" sz="2400" dirty="0"/>
              <a:t> </a:t>
            </a:r>
            <a:r>
              <a:rPr lang="en-US" sz="2400" dirty="0" err="1"/>
              <a:t>plandan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diğer</a:t>
            </a:r>
            <a:r>
              <a:rPr lang="en-US" sz="2400" dirty="0"/>
              <a:t> </a:t>
            </a:r>
            <a:r>
              <a:rPr lang="en-US" sz="2400" dirty="0" err="1"/>
              <a:t>nesnelerden</a:t>
            </a:r>
            <a:r>
              <a:rPr lang="en-US" sz="2400" dirty="0"/>
              <a:t> </a:t>
            </a:r>
            <a:r>
              <a:rPr lang="en-US" sz="2400" dirty="0" err="1"/>
              <a:t>ayırır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719726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F5E2C673-7354-45BD-9AC5-4935174B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Yeşil Objelerin Çıkarılması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64193FA8-A89D-4428-862A-4D44CE956AA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endParaRPr lang="tr-T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𝑌𝑂𝑏𝑗𝑒𝑙𝑒𝑟</m:t>
                    </m:r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𝑌𝑒</m:t>
                    </m:r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ş</m:t>
                    </m:r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𝑖𝑙</m:t>
                    </m:r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type m:val="skw"/>
                        <m:ctrlPr>
                          <a:rPr lang="tr-TR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𝑀𝑎𝑣𝑖</m:t>
                        </m:r>
                      </m:num>
                      <m:den>
                        <m:r>
                          <a:rPr lang="tr-TR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tr-TR" sz="1900" b="0" i="1" smtClean="0"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type m:val="skw"/>
                        <m:ctrlPr>
                          <a:rPr lang="tr-TR" sz="1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tr-TR" sz="1900" i="1">
                            <a:latin typeface="Cambria Math" panose="02040503050406030204" pitchFamily="18" charset="0"/>
                          </a:rPr>
                          <m:t>𝐾𝚤𝑟𝑚𝚤𝑧𝚤</m:t>
                        </m:r>
                      </m:num>
                      <m:den>
                        <m:r>
                          <a:rPr lang="tr-TR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tr-TR" sz="2200" dirty="0"/>
              </a:p>
              <a:p>
                <a:r>
                  <a:rPr lang="tr-TR" sz="2200" dirty="0"/>
                  <a:t>Kalan görüntü sadece yeşil olan objeler olacaktır. Yeşil dışındaki alanların değeri sıfır olur. </a:t>
                </a:r>
              </a:p>
              <a:p>
                <a:r>
                  <a:rPr lang="tr-TR" sz="2200" dirty="0"/>
                  <a:t>Oluşan gri seviye görüntünün üzerinde renkli görüntüye nazaran daha çok işlem yapılabilir.</a:t>
                </a:r>
              </a:p>
              <a:p>
                <a:r>
                  <a:rPr lang="tr-TR" sz="2200" dirty="0"/>
                  <a:t>Bunun yanında ayrıntıların birçoğu burada elenmiş olur.</a:t>
                </a:r>
              </a:p>
            </p:txBody>
          </p:sp>
        </mc:Choice>
        <mc:Fallback xmlns="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64193FA8-A89D-4428-862A-4D44CE956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693" t="-872" r="-10264" b="-2326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B5822BE6-1411-4CED-911C-96490AD412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7002" t="13032" r="17214" b="27352"/>
          <a:stretch/>
        </p:blipFill>
        <p:spPr>
          <a:xfrm>
            <a:off x="6149009" y="2796209"/>
            <a:ext cx="5022574" cy="2173356"/>
          </a:xfrm>
        </p:spPr>
      </p:pic>
    </p:spTree>
    <p:extLst>
      <p:ext uri="{BB962C8B-B14F-4D97-AF65-F5344CB8AC3E}">
        <p14:creationId xmlns:p14="http://schemas.microsoft.com/office/powerpoint/2010/main" val="102139683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6AC50106-F56E-4B22-B425-D701A779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Eşikleme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D12593-D75C-45B0-A381-C1837419B9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sz="2400" dirty="0"/>
              <a:t>Amaç, görüntü içerisindeki nesneleri görüntü arka planından ayırmaktır. </a:t>
            </a:r>
          </a:p>
          <a:p>
            <a:r>
              <a:rPr lang="tr-TR" sz="2400" dirty="0"/>
              <a:t>Görüntüdeki gri seviye dağılımlarını gösteren görüntü </a:t>
            </a:r>
            <a:r>
              <a:rPr lang="tr-TR" sz="2400" dirty="0" err="1"/>
              <a:t>histogramından</a:t>
            </a:r>
            <a:r>
              <a:rPr lang="tr-TR" sz="2400" dirty="0"/>
              <a:t> faydalanılır.</a:t>
            </a:r>
          </a:p>
          <a:p>
            <a:r>
              <a:rPr lang="tr-TR" sz="2400" dirty="0"/>
              <a:t>Görüntüdeki herhangi bir (</a:t>
            </a:r>
            <a:r>
              <a:rPr lang="tr-TR" sz="2400" dirty="0" err="1"/>
              <a:t>i,j</a:t>
            </a:r>
            <a:r>
              <a:rPr lang="tr-TR" sz="2400" dirty="0"/>
              <a:t>) pikseli için; f(i, j) &gt; T ise (i, j) pikseli nesneye ait bir nokta, f(</a:t>
            </a:r>
            <a:r>
              <a:rPr lang="tr-TR" sz="2400" dirty="0" err="1"/>
              <a:t>i,j</a:t>
            </a:r>
            <a:r>
              <a:rPr lang="tr-TR" sz="2400" dirty="0"/>
              <a:t>) ≤ T ise (i, j) pikseli arka plana ait bir nokta olacaktır.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21BC86D1-1BDB-4A80-9614-E12165A0B5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6720" t="12560" r="17101" b="27391"/>
          <a:stretch/>
        </p:blipFill>
        <p:spPr>
          <a:xfrm>
            <a:off x="6056243" y="2570922"/>
            <a:ext cx="5261114" cy="2279374"/>
          </a:xfrm>
        </p:spPr>
      </p:pic>
    </p:spTree>
    <p:extLst>
      <p:ext uri="{BB962C8B-B14F-4D97-AF65-F5344CB8AC3E}">
        <p14:creationId xmlns:p14="http://schemas.microsoft.com/office/powerpoint/2010/main" val="4159861485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C9430D7C-D38A-4E87-BC3C-556607B9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Küçük cisimleri filtreleme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F8614FC-5996-47EC-9ECB-F89C19BA0F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tr-TR" sz="2600" dirty="0"/>
              <a:t>Elde edilen görüntüdeki yapraktan küçük cisimleri bastırmak gerekir.</a:t>
            </a:r>
          </a:p>
          <a:p>
            <a:r>
              <a:rPr lang="tr-TR" sz="2600" dirty="0"/>
              <a:t>Bunun için belirli piksel değerinin altındaki piksel grupları maskelenir.</a:t>
            </a:r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66A83307-5831-4688-A432-AC3415DEDC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6771" t="13465" r="17472" b="26582"/>
          <a:stretch/>
        </p:blipFill>
        <p:spPr>
          <a:xfrm>
            <a:off x="6162261" y="2862470"/>
            <a:ext cx="5022574" cy="2186608"/>
          </a:xfrm>
        </p:spPr>
      </p:pic>
    </p:spTree>
    <p:extLst>
      <p:ext uri="{BB962C8B-B14F-4D97-AF65-F5344CB8AC3E}">
        <p14:creationId xmlns:p14="http://schemas.microsoft.com/office/powerpoint/2010/main" val="4212681135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DE316A8-C726-45A1-AC7A-92EFDA263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tr-TR" dirty="0"/>
              <a:t>Morfolojik Kapama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56D405-D047-4711-9E13-09949AD9A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/>
          <a:lstStyle/>
          <a:p>
            <a:r>
              <a:rPr lang="tr-TR" sz="2400" dirty="0"/>
              <a:t>Görüntüler üzerinde yapılan genişletme, aşındırma ile kenarlar orijinal şekli bozmadan düzeltilir.</a:t>
            </a:r>
          </a:p>
          <a:p>
            <a:r>
              <a:rPr lang="tr-TR" sz="2400" dirty="0"/>
              <a:t>Bunun yanında cismin içerisinde oluşabilecek süreksizlikler de kapatılır.</a:t>
            </a:r>
          </a:p>
          <a:p>
            <a:endParaRPr lang="tr-TR" dirty="0"/>
          </a:p>
        </p:txBody>
      </p:sp>
      <p:pic>
        <p:nvPicPr>
          <p:cNvPr id="5" name="İçerik Yer Tutucusu 5">
            <a:extLst>
              <a:ext uri="{FF2B5EF4-FFF2-40B4-BE49-F238E27FC236}">
                <a16:creationId xmlns:a16="http://schemas.microsoft.com/office/drawing/2014/main" id="{F8FFD153-B7B5-47AA-BB81-2D0CA40260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6709" t="12914" r="17501" b="27428"/>
          <a:stretch/>
        </p:blipFill>
        <p:spPr>
          <a:xfrm>
            <a:off x="5737294" y="2060575"/>
            <a:ext cx="6060110" cy="26239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1406786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9A10E77-3A7B-46B3-9587-F0A00835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Kenar Çıkarma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0E57B2-66F8-4336-A59D-5E7628F7D8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tr-TR" sz="2400" dirty="0"/>
              <a:t>Görüntüdeki süreksizlikleri ve keskin tonlama değişikliklerini bulma işlemidir.</a:t>
            </a:r>
          </a:p>
          <a:p>
            <a:r>
              <a:rPr lang="tr-TR" sz="2400" dirty="0"/>
              <a:t>Bu işlemle yaprağın sınırları bulunmuş olur.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86BA3635-7103-44B2-BB3E-F259882588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16636" t="12923" r="17067" b="26591"/>
          <a:stretch/>
        </p:blipFill>
        <p:spPr>
          <a:xfrm>
            <a:off x="6006711" y="3989021"/>
            <a:ext cx="5671930" cy="2470940"/>
          </a:xfr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EA594B4B-0654-47C8-B022-EACDF2F9F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711" y="1035958"/>
            <a:ext cx="5671930" cy="249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9473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10C9DE85-A263-432E-866D-CE4923D5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Bazı Uygulama Örnekleri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097CB27-C8B3-42AC-84FA-18AF375037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36" t="8932" r="7572" b="10104"/>
          <a:stretch/>
        </p:blipFill>
        <p:spPr>
          <a:xfrm>
            <a:off x="646111" y="2080592"/>
            <a:ext cx="5327374" cy="3324142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AFDDCFF2-D027-41F4-A9E6-B6BF5959CA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536" t="5506" r="8950" b="10761"/>
          <a:stretch/>
        </p:blipFill>
        <p:spPr>
          <a:xfrm>
            <a:off x="6135757" y="2080593"/>
            <a:ext cx="5066567" cy="3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38023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7AFEB65E-D801-4D3F-8287-A78F63790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95" t="4746" r="10457" b="11475"/>
          <a:stretch/>
        </p:blipFill>
        <p:spPr>
          <a:xfrm>
            <a:off x="728870" y="344556"/>
            <a:ext cx="3539716" cy="2849217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236B2C7D-32D1-49C2-AA74-E81E11E145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295" t="4745" r="10458" b="11477"/>
          <a:stretch/>
        </p:blipFill>
        <p:spPr>
          <a:xfrm>
            <a:off x="728870" y="3670850"/>
            <a:ext cx="3539716" cy="2849217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82E361FA-7FDC-41A2-A9B5-51871F23E8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642" t="13500" r="16911" b="27527"/>
          <a:stretch/>
        </p:blipFill>
        <p:spPr>
          <a:xfrm>
            <a:off x="4813078" y="1086675"/>
            <a:ext cx="3246784" cy="1364976"/>
          </a:xfrm>
          <a:prstGeom prst="rect">
            <a:avLst/>
          </a:prstGeom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A441D947-CED9-49B2-979F-D6ED7BAA9F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642" t="13500" r="16911" b="27527"/>
          <a:stretch/>
        </p:blipFill>
        <p:spPr>
          <a:xfrm>
            <a:off x="4813078" y="4412970"/>
            <a:ext cx="3246783" cy="1364975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A4D92373-8B85-42BB-B3FD-BFCB64555DD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6935" t="1311" r="2242" b="1200"/>
          <a:stretch/>
        </p:blipFill>
        <p:spPr>
          <a:xfrm>
            <a:off x="8604354" y="537772"/>
            <a:ext cx="2458388" cy="2462783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BD96E60D-4212-46D9-BB57-19BC5E99BE9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9883" t="6855" r="12783" b="14403"/>
          <a:stretch/>
        </p:blipFill>
        <p:spPr>
          <a:xfrm>
            <a:off x="8604354" y="3850531"/>
            <a:ext cx="2458388" cy="248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03313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E8F0E200-5B50-41B4-867B-77B9065B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477" y="2255013"/>
            <a:ext cx="9404723" cy="1400530"/>
          </a:xfrm>
        </p:spPr>
        <p:txBody>
          <a:bodyPr/>
          <a:lstStyle/>
          <a:p>
            <a:pPr algn="ctr"/>
            <a:r>
              <a:rPr lang="tr-TR" sz="6000" b="1" dirty="0"/>
              <a:t>Teşekkürler!</a:t>
            </a:r>
            <a:endParaRPr lang="tr-TR" b="1" dirty="0"/>
          </a:p>
        </p:txBody>
      </p:sp>
    </p:spTree>
    <p:extLst>
      <p:ext uri="{BB962C8B-B14F-4D97-AF65-F5344CB8AC3E}">
        <p14:creationId xmlns:p14="http://schemas.microsoft.com/office/powerpoint/2010/main" val="36000556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158</TotalTime>
  <Words>338</Words>
  <Application>Microsoft Office PowerPoint</Application>
  <PresentationFormat>Geniş ekran</PresentationFormat>
  <Paragraphs>41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Arial</vt:lpstr>
      <vt:lpstr>Cambria Math</vt:lpstr>
      <vt:lpstr>Century Gothic</vt:lpstr>
      <vt:lpstr>Wingdings 3</vt:lpstr>
      <vt:lpstr>İyon</vt:lpstr>
      <vt:lpstr>Bitkilerin Yapraklarının Sınırlarının Belirlenmesi</vt:lpstr>
      <vt:lpstr>Görüntü</vt:lpstr>
      <vt:lpstr>Görüntü İşleme</vt:lpstr>
      <vt:lpstr>Bölütleme</vt:lpstr>
      <vt:lpstr>Yeşil Objelerin Çıkarılması</vt:lpstr>
      <vt:lpstr>Eşikleme</vt:lpstr>
      <vt:lpstr>Küçük cisimleri filtreleme</vt:lpstr>
      <vt:lpstr>Morfolojik Kapama</vt:lpstr>
      <vt:lpstr>Kenar Çıkarma</vt:lpstr>
      <vt:lpstr>Bazı Uygulama Örnekleri</vt:lpstr>
      <vt:lpstr>PowerPoint Sunusu</vt:lpstr>
      <vt:lpstr>Teşekkürler!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Bitkilerin Yapraklarının Sınırlarının Belirlenmesi</dc:title>
  <dc:creator>Halil İbrâhim Bozoğlu</dc:creator>
  <cp:lastModifiedBy>Halil İbrâhim Bozoğlu</cp:lastModifiedBy>
  <cp:revision>18</cp:revision>
  <dcterms:created xsi:type="dcterms:W3CDTF">2018-01-07T14:28:05Z</dcterms:created>
  <dcterms:modified xsi:type="dcterms:W3CDTF">2018-01-08T08:12:21Z</dcterms:modified>
  <cp:contentStatus/>
</cp:coreProperties>
</file>